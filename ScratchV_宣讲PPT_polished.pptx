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ur-form-link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2743200" cy="27432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4846320"/>
            <a:ext cx="1828800" cy="1828800"/>
          </a:xfrm>
          <a:prstGeom prst="ellipse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1828800"/>
            <a:ext cx="137160" cy="1371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3474720"/>
            <a:ext cx="137160" cy="1371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20" y="914400"/>
            <a:ext cx="137160" cy="1371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731520" y="4114800"/>
            <a:ext cx="1828800" cy="182880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9144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600" b="1" i="0">
                <a:solidFill>
                  <a:srgbClr val="FFFFFF"/>
                </a:solidFill>
                <a:latin typeface="Microsoft YaHei"/>
              </a:defRPr>
            </a:pPr>
            <a:r>
              <a:t>探索「AI 模型 -&gt; 芯片指令」的</a:t>
            </a:r>
          </a:p>
          <a:p>
            <a:pPr algn="l">
              <a:lnSpc>
                <a:spcPts val="6400"/>
              </a:lnSpc>
              <a:defRPr sz="4600" b="1" i="0">
                <a:solidFill>
                  <a:srgbClr val="FFFFFF"/>
                </a:solidFill>
                <a:latin typeface="Microsoft YaHei"/>
              </a:defRPr>
            </a:pPr>
            <a:r>
              <a:t>神奇之旅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00"/>
              </a:lnSpc>
              <a:defRPr sz="2400" b="0" i="0">
                <a:solidFill>
                  <a:srgbClr val="E0E0E0"/>
                </a:solidFill>
                <a:latin typeface="Microsoft YaHei"/>
              </a:defRPr>
            </a:pPr>
            <a:r>
              <a:t>零基础友好的 AI 编译器开源项目 | 线上宣讲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840480"/>
            <a:ext cx="320040" cy="3200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E0E0E0"/>
                </a:solidFill>
                <a:latin typeface="Microsoft YaHei"/>
              </a:defRPr>
            </a:pPr>
            <a:r>
              <a:t>2025 年 6 月  |  三个月，从零搭建你的第一个编译器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389120"/>
            <a:ext cx="320040" cy="3200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 i="0">
                <a:solidFill>
                  <a:srgbClr val="666666"/>
                </a:solidFill>
                <a:latin typeface="Microsoft YaHei"/>
              </a:defRPr>
            </a:pPr>
            <a:r>
              <a:t>不需要编译原理基础 | 不需要 AI 基础 | 只需要好奇心和耐心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303520"/>
            <a:ext cx="36576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宣讲提纲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七个模块，带你从零走进编译器的世界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207" y="1508760"/>
            <a:ext cx="48920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207" y="1508760"/>
            <a:ext cx="64008" cy="100584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49527" y="1709928"/>
            <a:ext cx="457200" cy="45720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9607" y="164592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700" b="1" i="0">
                <a:solidFill>
                  <a:srgbClr val="2D2D2D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201168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我们要做什么？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5207" y="2679192"/>
            <a:ext cx="48920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5207" y="2679192"/>
            <a:ext cx="64008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49527" y="288036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9607" y="2816352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700" b="1" i="0">
                <a:solidFill>
                  <a:srgbClr val="2D2D2D"/>
                </a:solidFill>
                <a:latin typeface="Microsoft YaHei"/>
              </a:defRPr>
            </a:pPr>
            <a:r>
              <a:t>为什么值得参加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9607" y="31821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你能收获什么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207" y="3849624"/>
            <a:ext cx="48920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207" y="3849624"/>
            <a:ext cx="64008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49527" y="4050792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9607" y="3986784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700" b="1" i="0">
                <a:solidFill>
                  <a:srgbClr val="2D2D2D"/>
                </a:solidFill>
                <a:latin typeface="Microsoft YaHei"/>
              </a:defRPr>
            </a:pPr>
            <a:r>
              <a:t>三个月学习路线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9607" y="435254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Phase 1-2-3 逐级进阶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207" y="5020056"/>
            <a:ext cx="48920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5207" y="5020056"/>
            <a:ext cx="64008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49527" y="5221224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9607" y="5157216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700" b="1" i="0">
                <a:solidFill>
                  <a:srgbClr val="2D2D2D"/>
                </a:solidFill>
                <a:latin typeface="Microsoft YaHei"/>
              </a:defRPr>
            </a:pPr>
            <a:r>
              <a:t>课题精选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9607" y="552297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14 个课题全方位解析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1508760"/>
            <a:ext cx="48920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4447" y="1508760"/>
            <a:ext cx="64008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98767" y="1709928"/>
            <a:ext cx="457200" cy="4572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8847" y="164592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700" b="1" i="0">
                <a:solidFill>
                  <a:srgbClr val="2D2D2D"/>
                </a:solidFill>
                <a:latin typeface="Microsoft YaHei"/>
              </a:defRPr>
            </a:pPr>
            <a:r>
              <a:t>时间节点与适合人群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847" y="201168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关键里程碑 &amp; 报名要求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4447" y="2679192"/>
            <a:ext cx="48920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24447" y="2679192"/>
            <a:ext cx="64008" cy="100584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98767" y="2880360"/>
            <a:ext cx="457200" cy="45720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8847" y="2816352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700" b="1" i="0">
                <a:solidFill>
                  <a:srgbClr val="2D2D2D"/>
                </a:solidFill>
                <a:latin typeface="Microsoft YaHei"/>
              </a:defRPr>
            </a:pPr>
            <a:r>
              <a:t>如何上手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8847" y="31821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参与准备与上手路线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4447" y="3849624"/>
            <a:ext cx="48920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24447" y="3849624"/>
            <a:ext cx="64008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98767" y="4050792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8847" y="3986784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700" b="1" i="0">
                <a:solidFill>
                  <a:srgbClr val="2D2D2D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8847" y="435254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常见疑问与报名方式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5207" y="6217920"/>
            <a:ext cx="10241280" cy="18288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207" y="629107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 i="0">
                <a:solidFill>
                  <a:srgbClr val="006D77"/>
                </a:solidFill>
                <a:latin typeface="Microsoft YaHei"/>
              </a:defRPr>
            </a:pPr>
            <a:r>
              <a:t>全程零基础友好 -- 每步都有 mentor 指导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你有没有好奇过......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一些可能让你「心里痒痒」的问题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657600"/>
          </a:xfrm>
          <a:prstGeom prst="roundRect">
            <a:avLst/>
          </a:prstGeom>
          <a:solidFill>
            <a:srgbClr val="E0F7F7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48840" y="1920240"/>
            <a:ext cx="640080" cy="64008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你写的 Python 代码，</a:t>
            </a:r>
          </a:p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电脑到底是怎么</a:t>
            </a:r>
          </a:p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「听懂」并执行的？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251960"/>
            <a:ext cx="2743200" cy="13716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从高级语言到机器指令，</a:t>
            </a:r>
          </a:p>
          <a:p>
            <a:pPr algn="l">
              <a:lnSpc>
                <a:spcPts val="16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中间经历了怎样的魔法转换？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487" y="1645920"/>
            <a:ext cx="3474720" cy="3657600"/>
          </a:xfrm>
          <a:prstGeom prst="roundRect">
            <a:avLst/>
          </a:prstGeom>
          <a:solidFill>
            <a:srgbClr val="E8F4F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8487" y="1645920"/>
            <a:ext cx="34747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75807" y="192024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2788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那些炫酷的 AI 模型，</a:t>
            </a:r>
          </a:p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最终怎么在小小的</a:t>
            </a:r>
          </a:p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芯片上跑起来？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4251960"/>
            <a:ext cx="2743200" cy="1371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2807" y="4389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模型是数学公式，芯片只懂 0 和 1 --</a:t>
            </a:r>
          </a:p>
          <a:p>
            <a:pPr algn="l">
              <a:lnSpc>
                <a:spcPts val="16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谁来当这个翻译官？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5455" y="1645920"/>
            <a:ext cx="3474720" cy="3657600"/>
          </a:xfrm>
          <a:prstGeom prst="roundRect">
            <a:avLst/>
          </a:prstGeom>
          <a:solidFill>
            <a:srgbClr val="FFF8E8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5455" y="164592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02775" y="192024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9775" y="27889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编译器 --</a:t>
            </a:r>
          </a:p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这个听起来很高深的东西，</a:t>
            </a:r>
          </a:p>
          <a:p>
            <a:pPr algn="l">
              <a:lnSpc>
                <a:spcPts val="19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到底在做什么？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1215" y="4251960"/>
            <a:ext cx="2743200" cy="1371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9775" y="43891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它不是一个黑盒，</a:t>
            </a:r>
          </a:p>
          <a:p>
            <a:pPr algn="l">
              <a:lnSpc>
                <a:spcPts val="16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而是你可以亲手搭建的工具。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006D77"/>
                </a:solidFill>
                <a:latin typeface="Microsoft YaHei"/>
              </a:defRPr>
            </a:pPr>
            <a:r>
              <a:t>-- 哪怕你只学过一点点编程，这个项目就是为你准备的 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我们要做什么？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用三个月时间，从零搭建一个迷你 AI 编译器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487" y="1737360"/>
            <a:ext cx="3200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9487" y="1737360"/>
            <a:ext cx="320040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9487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006D77"/>
                </a:solidFill>
                <a:latin typeface="Microsoft YaHei"/>
              </a:defRPr>
            </a:pPr>
            <a: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6687" y="2331720"/>
            <a:ext cx="2286000" cy="18288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3807" y="2514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一个简单的 ONNX</a:t>
            </a:r>
          </a:p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AI 模型文件</a:t>
            </a:r>
          </a:p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（加法和乘法）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48175" y="2971800"/>
            <a:ext cx="329184" cy="22860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5647" y="1737360"/>
            <a:ext cx="3200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647" y="1737360"/>
            <a:ext cx="32004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7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2E86AB"/>
                </a:solidFill>
                <a:latin typeface="Microsoft YaHei"/>
              </a:defRPr>
            </a:pPr>
            <a:r>
              <a:t>Compiler 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2847" y="2331720"/>
            <a:ext cx="2286000" cy="18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9967" y="2514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[1] 读懂模型</a:t>
            </a:r>
          </a:p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[2] 翻译成中间语言</a:t>
            </a:r>
          </a:p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[3] 优化</a:t>
            </a:r>
          </a:p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[4] 生成指令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14335" y="2971800"/>
            <a:ext cx="329184" cy="22860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1807" y="1737360"/>
            <a:ext cx="32004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1807" y="1737360"/>
            <a:ext cx="3200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807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1" i="0">
                <a:solidFill>
                  <a:srgbClr val="F5A623"/>
                </a:solidFill>
                <a:latin typeface="Microsoft YaHei"/>
              </a:defRPr>
            </a:pPr>
            <a:r>
              <a:t>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9007" y="2331720"/>
            <a:ext cx="2286000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6127" y="2514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RISC-V 汇编代码</a:t>
            </a:r>
          </a:p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（add, load 等</a:t>
            </a:r>
          </a:p>
          <a:p>
            <a:pPr algn="ctr">
              <a:lnSpc>
                <a:spcPts val="18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芯片指令）</a:t>
            </a:r>
          </a:p>
        </p:txBody>
      </p:sp>
      <p:sp>
        <p:nvSpPr>
          <p:cNvPr id="22" name="Oval 21"/>
          <p:cNvSpPr/>
          <p:nvPr/>
        </p:nvSpPr>
        <p:spPr>
          <a:xfrm>
            <a:off x="2103120" y="4864608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完全自主实现，不依赖 LLVM / MLIR 等巨型框架</a:t>
            </a:r>
          </a:p>
        </p:txBody>
      </p:sp>
      <p:sp>
        <p:nvSpPr>
          <p:cNvPr id="24" name="Oval 23"/>
          <p:cNvSpPr/>
          <p:nvPr/>
        </p:nvSpPr>
        <p:spPr>
          <a:xfrm>
            <a:off x="2103120" y="5230368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5212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放到模拟器 (tinyfive) 中运行验证</a:t>
            </a:r>
          </a:p>
        </p:txBody>
      </p:sp>
      <p:sp>
        <p:nvSpPr>
          <p:cNvPr id="26" name="Oval 25"/>
          <p:cNvSpPr/>
          <p:nvPr/>
        </p:nvSpPr>
        <p:spPr>
          <a:xfrm>
            <a:off x="2103120" y="5596128"/>
            <a:ext cx="256032" cy="25603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577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每一步都亲手写出来，真正搞懂原理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从模型到芯片的完整链路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编译器 -- AI 世界与芯片世界的桥梁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1920240"/>
            <a:ext cx="173736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287" y="1938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ONNX 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287" y="2377440"/>
            <a:ext cx="17373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439" y="248716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读取并解析</a:t>
            </a:r>
          </a:p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AI 模型文件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8791" y="2011680"/>
            <a:ext cx="146304" cy="1828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4239" y="1920240"/>
            <a:ext cx="1737360" cy="457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4239" y="1938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IR 中间表示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4239" y="2377440"/>
            <a:ext cx="17373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7391" y="248716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翻译成自己</a:t>
            </a:r>
          </a:p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定义的指令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20743" y="2011680"/>
            <a:ext cx="146304" cy="1828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6191" y="1920240"/>
            <a:ext cx="173736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6191" y="1938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优化器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6191" y="2377440"/>
            <a:ext cx="17373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9343" y="248716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死代码消除</a:t>
            </a:r>
          </a:p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常量折叠等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22695" y="2011680"/>
            <a:ext cx="146304" cy="1828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8143" y="1920240"/>
            <a:ext cx="1737360" cy="457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8143" y="1938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2377440"/>
            <a:ext cx="17373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1295" y="248716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指令选择</a:t>
            </a:r>
          </a:p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寄存器分配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24647" y="2011680"/>
            <a:ext cx="146304" cy="1828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0095" y="1920240"/>
            <a:ext cx="173736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0095" y="1938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RISC-V 汇编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0095" y="2377440"/>
            <a:ext cx="17373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3247" y="248716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生成芯片</a:t>
            </a:r>
          </a:p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可执行指令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26599" y="2011680"/>
            <a:ext cx="146304" cy="18288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82047" y="1920240"/>
            <a:ext cx="1737360" cy="45720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2047" y="19385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1000" b="1" i="0">
                <a:solidFill>
                  <a:srgbClr val="FFFFFF"/>
                </a:solidFill>
                <a:latin typeface="Microsoft YaHei"/>
              </a:defRPr>
            </a:pPr>
            <a:r>
              <a:t>模拟器 tinyfive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82047" y="2377440"/>
            <a:ext cx="1737360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5199" y="2487168"/>
            <a:ext cx="15910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运行验证</a:t>
            </a:r>
          </a:p>
          <a:p>
            <a:pPr algn="ctr">
              <a:lnSpc>
                <a:spcPts val="1200"/>
              </a:lnSpc>
              <a:defRPr sz="900" b="0" i="0">
                <a:solidFill>
                  <a:srgbClr val="2D2D2D"/>
                </a:solidFill>
                <a:latin typeface="Microsoft YaHei"/>
              </a:defRPr>
            </a:pPr>
            <a:r>
              <a:t>输出结果</a:t>
            </a:r>
          </a:p>
        </p:txBody>
      </p:sp>
      <p:sp>
        <p:nvSpPr>
          <p:cNvPr id="34" name="Oval 33"/>
          <p:cNvSpPr/>
          <p:nvPr/>
        </p:nvSpPr>
        <p:spPr>
          <a:xfrm>
            <a:off x="1371600" y="3977640"/>
            <a:ext cx="274320" cy="27432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3959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 i="0">
                <a:solidFill>
                  <a:srgbClr val="2D2D2D"/>
                </a:solidFill>
                <a:latin typeface="Microsoft YaHei"/>
              </a:defRPr>
            </a:pPr>
            <a:r>
              <a:t>整个流程没有任何黑盒 -- 从模型文件的第一行，到汇编指令的最后一行，都由你亲手构建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为什么值得你来试一试？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三个理由，总有一个打动你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94560" y="1828800"/>
            <a:ext cx="548640" cy="54864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900" b="1" i="0">
                <a:solidFill>
                  <a:srgbClr val="006D77"/>
                </a:solidFill>
                <a:latin typeface="Microsoft YaHei"/>
              </a:defRPr>
            </a:pPr>
            <a:r>
              <a:t>不需要大神基础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926080"/>
            <a:ext cx="2011680" cy="18288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学过一点 Python 或 C？够了。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知道数组、函数、循环？完全够。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两周带你入门 RISC-V，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不需要预先掌握任何底层知识。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720"/>
            <a:ext cx="3474720" cy="27432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33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 i="1">
                <a:solidFill>
                  <a:srgbClr val="006D77"/>
                </a:solidFill>
                <a:latin typeface="Microsoft YaHei"/>
              </a:defRPr>
            </a:pPr>
            <a:r>
              <a:t>像搭积木一样，一块一块搭起来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487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8487" y="1554480"/>
            <a:ext cx="34747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21527" y="182880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900" b="1" i="0">
                <a:solidFill>
                  <a:srgbClr val="2E86AB"/>
                </a:solidFill>
                <a:latin typeface="Microsoft YaHei"/>
              </a:defRPr>
            </a:pPr>
            <a:r>
              <a:t>真正理解底层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0007" y="2926080"/>
            <a:ext cx="2011680" cy="18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8527" y="310896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不再是只会 import torch 的调包侠。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理解从数学模型到机器指令的完整链路。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高性能计算、AI 芯片的核心能力，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从这里开始培养。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58487" y="5760720"/>
            <a:ext cx="347472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367" y="5833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 i="1">
                <a:solidFill>
                  <a:srgbClr val="2E86AB"/>
                </a:solidFill>
                <a:latin typeface="Microsoft YaHei"/>
              </a:defRPr>
            </a:pPr>
            <a:r>
              <a:t>简历加分：独立实现 AI -&gt; RISC-V 完整编译器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5455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5455" y="1554480"/>
            <a:ext cx="3474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48495" y="182880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9775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1900" b="1" i="0">
                <a:solidFill>
                  <a:srgbClr val="F5A623"/>
                </a:solidFill>
                <a:latin typeface="Microsoft YaHei"/>
              </a:defRPr>
            </a:pPr>
            <a:r>
              <a:t>温暖的开源社区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16975" y="2926080"/>
            <a:ext cx="2011680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5495" y="310896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每周线上答疑 + 讲解。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Peer Review 代码，互相改 bug。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一起庆祝每个里程碑的达成。</a:t>
            </a:r>
          </a:p>
          <a:p>
            <a:pPr algn="l">
              <a:lnSpc>
                <a:spcPts val="18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你不是一个人在战斗。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455" y="5760720"/>
            <a:ext cx="34747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8335" y="5833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 i="1">
                <a:solidFill>
                  <a:srgbClr val="F5A623"/>
                </a:solidFill>
                <a:latin typeface="Microsoft YaHei"/>
              </a:defRPr>
            </a:pPr>
            <a:r>
              <a:t>你的代码会成为开源项目的一部分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三个月学习路线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循序渐进的三阶段学习计划，每个阶段都有明确目标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822960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FFFFFF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第 1 - 2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2D2D2D"/>
                </a:solidFill>
                <a:latin typeface="Microsoft YaHei"/>
              </a:defRPr>
            </a:pPr>
            <a:r>
              <a:t>跑通完整链路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880360"/>
            <a:ext cx="2377440" cy="18288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081528"/>
            <a:ext cx="201168" cy="201168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跑通别人写好的完整例子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493008"/>
            <a:ext cx="201168" cy="201168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看懂「模型 -&gt; 指令」的全过程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904488"/>
            <a:ext cx="201168" cy="201168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建立对编译器的整体认知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532120"/>
            <a:ext cx="2743200" cy="18288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05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1">
                <a:solidFill>
                  <a:srgbClr val="006D77"/>
                </a:solidFill>
                <a:latin typeface="Microsoft YaHei"/>
              </a:defRPr>
            </a:pPr>
            <a:r>
              <a:t>哇，原来是这样！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8487" y="155448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58487" y="1554480"/>
            <a:ext cx="347472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1367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FFFFFF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67" y="19659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第 3 - 8 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807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2D2D2D"/>
                </a:solidFill>
                <a:latin typeface="Microsoft YaHei"/>
              </a:defRPr>
            </a:pPr>
            <a:r>
              <a:t>亲手实现编译器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07127" y="2880360"/>
            <a:ext cx="2377440" cy="18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2807" y="3081528"/>
            <a:ext cx="201168" cy="20116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2847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把 ONNX 模型翻译成自己的 IR</a:t>
            </a:r>
          </a:p>
        </p:txBody>
      </p:sp>
      <p:sp>
        <p:nvSpPr>
          <p:cNvPr id="27" name="Oval 26"/>
          <p:cNvSpPr/>
          <p:nvPr/>
        </p:nvSpPr>
        <p:spPr>
          <a:xfrm>
            <a:off x="4632807" y="3493008"/>
            <a:ext cx="201168" cy="20116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2847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实现 RISC-V 后端生成汇编</a:t>
            </a:r>
          </a:p>
        </p:txBody>
      </p:sp>
      <p:sp>
        <p:nvSpPr>
          <p:cNvPr id="29" name="Oval 28"/>
          <p:cNvSpPr/>
          <p:nvPr/>
        </p:nvSpPr>
        <p:spPr>
          <a:xfrm>
            <a:off x="4632807" y="3904488"/>
            <a:ext cx="201168" cy="20116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2847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实现基础优化（常量折叠等）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24247" y="5532120"/>
            <a:ext cx="2743200" cy="18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1367" y="5605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1">
                <a:solidFill>
                  <a:srgbClr val="2E86AB"/>
                </a:solidFill>
                <a:latin typeface="Microsoft YaHei"/>
              </a:defRPr>
            </a:pPr>
            <a:r>
              <a:t>开始创造，成就感爆棚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85455" y="155448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85455" y="1554480"/>
            <a:ext cx="3474720" cy="82296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8335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FFFFFF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8335" y="19659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0" i="0">
                <a:solidFill>
                  <a:srgbClr val="FFFFFF"/>
                </a:solidFill>
                <a:latin typeface="Microsoft YaHei"/>
              </a:defRPr>
            </a:pPr>
            <a:r>
              <a:t>第 9 - 12 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9775" y="2560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2D2D2D"/>
                </a:solidFill>
                <a:latin typeface="Microsoft YaHei"/>
              </a:defRPr>
            </a:pPr>
            <a:r>
              <a:t>优化与产出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34095" y="2880360"/>
            <a:ext cx="2377440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59775" y="3081528"/>
            <a:ext cx="201168" cy="2011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9815" y="3063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跑通更多模型</a:t>
            </a:r>
          </a:p>
        </p:txBody>
      </p:sp>
      <p:sp>
        <p:nvSpPr>
          <p:cNvPr id="41" name="Oval 40"/>
          <p:cNvSpPr/>
          <p:nvPr/>
        </p:nvSpPr>
        <p:spPr>
          <a:xfrm>
            <a:off x="8259775" y="3493008"/>
            <a:ext cx="201168" cy="2011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9815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指令更短、运行更快</a:t>
            </a:r>
          </a:p>
        </p:txBody>
      </p:sp>
      <p:sp>
        <p:nvSpPr>
          <p:cNvPr id="43" name="Oval 42"/>
          <p:cNvSpPr/>
          <p:nvPr/>
        </p:nvSpPr>
        <p:spPr>
          <a:xfrm>
            <a:off x="8259775" y="3904488"/>
            <a:ext cx="201168" cy="2011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9815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编写文档，完善项目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1215" y="5532120"/>
            <a:ext cx="2743200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8335" y="5605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1">
                <a:solidFill>
                  <a:srgbClr val="F5A623"/>
                </a:solidFill>
                <a:latin typeface="Microsoft YaHei"/>
              </a:defRPr>
            </a:pPr>
            <a:r>
              <a:t>我居然做出了一个编译器！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33679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100" b="1" i="0">
                <a:solidFill>
                  <a:srgbClr val="006D77"/>
                </a:solidFill>
                <a:latin typeface="Microsoft YaHei"/>
              </a:defRPr>
            </a:pPr>
            <a:r>
              <a:t>每周只需 8 - 10 小时  |  提供预置框架和 benchmark  |  每周线上答疑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课题精选总览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14 个课题覆盖编译器的各个模块，按难度分层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[低]  入门友好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49424"/>
            <a:ext cx="310896" cy="3108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编译器日志增强器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65176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843784"/>
            <a:ext cx="310896" cy="3108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窥孔优化器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24612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438144"/>
            <a:ext cx="310896" cy="3108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83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常量加载合并优化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84048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032504"/>
            <a:ext cx="310896" cy="3108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77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RISC-V 汇编代码美化器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43484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626864"/>
            <a:ext cx="310896" cy="3108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项目代码规范与格式化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4207" y="1645920"/>
            <a:ext cx="3383280" cy="38404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5647" y="1664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[中]  进阶挑战</a:t>
            </a:r>
          </a:p>
        </p:txBody>
      </p:sp>
      <p:sp>
        <p:nvSpPr>
          <p:cNvPr id="23" name="Oval 22"/>
          <p:cNvSpPr/>
          <p:nvPr/>
        </p:nvSpPr>
        <p:spPr>
          <a:xfrm>
            <a:off x="4587087" y="2249424"/>
            <a:ext cx="310896" cy="31089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4287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DSL 前端增强器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8527" y="265176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87087" y="2843784"/>
            <a:ext cx="310896" cy="31089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4287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编译器性能测试套件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8527" y="324612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87087" y="3438144"/>
            <a:ext cx="310896" cy="31089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4287" y="3383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DSL 错误提示美化器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78527" y="384048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87087" y="4032504"/>
            <a:ext cx="310896" cy="31089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4287" y="3977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IR 验证器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78527" y="443484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87087" y="4626864"/>
            <a:ext cx="310896" cy="31089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4287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完善后端指令选择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6895" y="1645920"/>
            <a:ext cx="3383280" cy="38404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8335" y="1664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[高]  大神修炼</a:t>
            </a:r>
          </a:p>
        </p:txBody>
      </p:sp>
      <p:sp>
        <p:nvSpPr>
          <p:cNvPr id="39" name="Oval 38"/>
          <p:cNvSpPr/>
          <p:nvPr/>
        </p:nvSpPr>
        <p:spPr>
          <a:xfrm>
            <a:off x="8259775" y="2249424"/>
            <a:ext cx="310896" cy="31089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16975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控制流图（CFG）生成器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51215" y="265176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59775" y="2843784"/>
            <a:ext cx="310896" cy="31089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6975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RISC-V 后端指令计数统计器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1215" y="324612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59775" y="3438144"/>
            <a:ext cx="310896" cy="31089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16975" y="3383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寄存器分配（线性扫描）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51215" y="3840480"/>
            <a:ext cx="2834640" cy="731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259775" y="4032504"/>
            <a:ext cx="310896" cy="31089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6975" y="3977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指令调度（列表调度）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课题详解 | 入门友好型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适合新手起步，快速获得成就感  [ 难度：低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169164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3767" y="1691640"/>
            <a:ext cx="73152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2367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7AE60"/>
                </a:solidFill>
                <a:latin typeface="Microsoft YaHei"/>
              </a:defRPr>
            </a:pPr>
            <a:r>
              <a:t>#7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8367" y="1847088"/>
            <a:ext cx="548640" cy="237744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编译器日志增强器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367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为编译器添加结构化日志输出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支持不同日志级别 (INFO/WARN/ERROR)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帮助开发者调试编译流程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9927" y="169164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9927" y="1691640"/>
            <a:ext cx="73152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8527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7AE60"/>
                </a:solidFill>
                <a:latin typeface="Microsoft YaHei"/>
              </a:defRPr>
            </a:pPr>
            <a:r>
              <a:t>#13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4527" y="1847088"/>
            <a:ext cx="548640" cy="237744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527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窥孔优化器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扫描生成的汇编代码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用更短的指令序列替换冗余模式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经典的局部优化技术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087" y="169164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6087" y="1691640"/>
            <a:ext cx="73152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687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7AE60"/>
                </a:solidFill>
                <a:latin typeface="Microsoft YaHei"/>
              </a:defRPr>
            </a:pPr>
            <a:r>
              <a:t>#14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30687" y="1847088"/>
            <a:ext cx="548640" cy="237744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687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常量加载合并优化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687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识别重复的常量加载指令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合并为一次加载，减少代码体积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简单但效果明显的优化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66847" y="3867912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66847" y="3867912"/>
            <a:ext cx="73152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5447" y="4005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7AE60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1447" y="4023360"/>
            <a:ext cx="548640" cy="237744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5447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RISC-V 汇编代码美化器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5447" y="473659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格式化汇编输出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添加注释和可读性改进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让生成的代码更易读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3867912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3007" y="3867912"/>
            <a:ext cx="73152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1607" y="4005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7AE60"/>
                </a:solidFill>
                <a:latin typeface="Microsoft YaHei"/>
              </a:defRPr>
            </a:pPr>
            <a:r>
              <a:t>#20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47607" y="4023360"/>
            <a:ext cx="548640" cy="237744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607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项目代码规范与格式化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607" y="473659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统一代码风格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配置 linter / formatter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提升项目的专业性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课题详解 | 进阶挑战型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需要一定的编程能力，深入编译器核心  [ 难度：中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3767" y="169164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3767" y="1691640"/>
            <a:ext cx="73152" cy="1920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2367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F39C12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8367" y="1847088"/>
            <a:ext cx="548640" cy="23774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DSL 前端增强器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367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扩展 DSL 语法支持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支持更多算子类型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改进前端解析能力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9927" y="169164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9927" y="1691640"/>
            <a:ext cx="73152" cy="1920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8527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F39C12"/>
                </a:solidFill>
                <a:latin typeface="Microsoft YaHei"/>
              </a:defRPr>
            </a:pPr>
            <a:r>
              <a:t>#9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4527" y="1847088"/>
            <a:ext cx="548640" cy="23774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527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DSL 错误提示美化器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友好的错误信息展示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精确的错误位置定位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彩色终端输出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087" y="1691640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6087" y="1691640"/>
            <a:ext cx="73152" cy="1920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687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F39C12"/>
                </a:solidFill>
                <a:latin typeface="Microsoft YaHei"/>
              </a:defRPr>
            </a:pPr>
            <a:r>
              <a:t>#6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30687" y="1847088"/>
            <a:ext cx="548640" cy="23774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687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编译器性能测试套件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687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自动化 benchmark 流程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统计编译时间和代码质量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生成性能对比报告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66847" y="3867912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66847" y="3867912"/>
            <a:ext cx="73152" cy="1920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5447" y="4005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F39C12"/>
                </a:solidFill>
                <a:latin typeface="Microsoft YaHei"/>
              </a:defRPr>
            </a:pPr>
            <a:r>
              <a:t>#21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1447" y="4023360"/>
            <a:ext cx="548640" cy="23774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5447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IR 验证器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5447" y="473659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检查 IR 的合法性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验证数据流正确性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确保优化不改变语义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3867912"/>
            <a:ext cx="329184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3007" y="3867912"/>
            <a:ext cx="73152" cy="1920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1607" y="4005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F39C12"/>
                </a:solidFill>
                <a:latin typeface="Microsoft YaHei"/>
              </a:defRPr>
            </a:pPr>
            <a:r>
              <a:t>#28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47607" y="4023360"/>
            <a:ext cx="548640" cy="23774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607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 i="0">
                <a:solidFill>
                  <a:srgbClr val="2D2D2D"/>
                </a:solidFill>
                <a:latin typeface="Microsoft YaHei"/>
              </a:defRPr>
            </a:pPr>
            <a:r>
              <a:t>完善后端指令选择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607" y="473659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扩展指令选择规则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支持更多 RISC-V 指令</a:t>
            </a:r>
          </a:p>
          <a:p>
            <a:pPr algn="l">
              <a:lnSpc>
                <a:spcPts val="14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后端功能完善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课题详解 | 大神修炼型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挑战编译器核心算法，收获满满硬技能  [ 难度：高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567" y="1737360"/>
            <a:ext cx="2697480" cy="3657600"/>
          </a:xfrm>
          <a:prstGeom prst="roundRect">
            <a:avLst/>
          </a:prstGeom>
          <a:solidFill>
            <a:srgbClr val="FFF0EF"/>
          </a:solidFill>
          <a:ln w="1651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737360"/>
            <a:ext cx="26974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E74C3C"/>
                </a:solidFill>
                <a:latin typeface="Microsoft YaHei"/>
              </a:defRPr>
            </a:pPr>
            <a:r>
              <a:t>#11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6807" y="1938528"/>
            <a:ext cx="548640" cy="237744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1" i="0">
                <a:solidFill>
                  <a:srgbClr val="2D2D2D"/>
                </a:solidFill>
                <a:latin typeface="Microsoft YaHei"/>
              </a:defRPr>
            </a:pPr>
            <a:r>
              <a:t>控制流图(CFG)生成器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" y="2788920"/>
            <a:ext cx="2331720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29260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从 IR 中构建基本块</a:t>
            </a:r>
          </a:p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生成控制流图可视化</a:t>
            </a:r>
          </a:p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为后续优化奠定基础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447" y="4892040"/>
            <a:ext cx="233172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447" y="4937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1" i="0">
                <a:solidFill>
                  <a:srgbClr val="FFFFFF"/>
                </a:solidFill>
                <a:latin typeface="Microsoft YaHei"/>
              </a:defRPr>
            </a:pPr>
            <a:r>
              <a:t>编译优化 | 图算法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6927" y="1737360"/>
            <a:ext cx="2697480" cy="3657600"/>
          </a:xfrm>
          <a:prstGeom prst="roundRect">
            <a:avLst/>
          </a:prstGeom>
          <a:solidFill>
            <a:srgbClr val="FFF0EF"/>
          </a:solidFill>
          <a:ln w="1651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6927" y="1737360"/>
            <a:ext cx="26974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9807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E74C3C"/>
                </a:solidFill>
                <a:latin typeface="Microsoft YaHei"/>
              </a:defRPr>
            </a:pPr>
            <a:r>
              <a:t>#12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7167" y="1938528"/>
            <a:ext cx="548640" cy="237744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9807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1" i="0">
                <a:solidFill>
                  <a:srgbClr val="2D2D2D"/>
                </a:solidFill>
                <a:latin typeface="Microsoft YaHei"/>
              </a:defRPr>
            </a:pPr>
            <a:r>
              <a:t>后端指令计数统计器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9807" y="2788920"/>
            <a:ext cx="2331720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9807" y="29260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统计生成的各类指令数量</a:t>
            </a:r>
          </a:p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分析指令分布特征</a:t>
            </a:r>
          </a:p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输出可视化统计报告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89807" y="4892040"/>
            <a:ext cx="233172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9807" y="4937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1" i="0">
                <a:solidFill>
                  <a:srgbClr val="FFFFFF"/>
                </a:solidFill>
                <a:latin typeface="Microsoft YaHei"/>
              </a:defRPr>
            </a:pPr>
            <a:r>
              <a:t>数据分析 | 可视化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1737360"/>
            <a:ext cx="2697480" cy="3657600"/>
          </a:xfrm>
          <a:prstGeom prst="roundRect">
            <a:avLst/>
          </a:prstGeom>
          <a:solidFill>
            <a:srgbClr val="FFF0EF"/>
          </a:solidFill>
          <a:ln w="1651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1737360"/>
            <a:ext cx="26974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167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E74C3C"/>
                </a:solidFill>
                <a:latin typeface="Microsoft YaHei"/>
              </a:defRPr>
            </a:pPr>
            <a:r>
              <a:t>#17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527" y="1938528"/>
            <a:ext cx="548640" cy="237744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1" i="0">
                <a:solidFill>
                  <a:srgbClr val="2D2D2D"/>
                </a:solidFill>
                <a:latin typeface="Microsoft YaHei"/>
              </a:defRPr>
            </a:pPr>
            <a:r>
              <a:t>寄存器分配(线性扫描)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0167" y="2788920"/>
            <a:ext cx="2331720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29260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实现寄存器分配算法</a:t>
            </a:r>
          </a:p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处理变量生命周期</a:t>
            </a:r>
          </a:p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优化寄存器使用效率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70167" y="4892040"/>
            <a:ext cx="233172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167" y="4937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1" i="0">
                <a:solidFill>
                  <a:srgbClr val="FFFFFF"/>
                </a:solidFill>
                <a:latin typeface="Microsoft YaHei"/>
              </a:defRPr>
            </a:pPr>
            <a:r>
              <a:t>经典算法实现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7647" y="1737360"/>
            <a:ext cx="2697480" cy="3657600"/>
          </a:xfrm>
          <a:prstGeom prst="roundRect">
            <a:avLst/>
          </a:prstGeom>
          <a:solidFill>
            <a:srgbClr val="FFF0EF"/>
          </a:solidFill>
          <a:ln w="1651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67647" y="1737360"/>
            <a:ext cx="26974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0527" y="1920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E74C3C"/>
                </a:solidFill>
                <a:latin typeface="Microsoft YaHei"/>
              </a:defRPr>
            </a:pPr>
            <a:r>
              <a:t>#18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87887" y="1938528"/>
            <a:ext cx="548640" cy="237744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0527" y="23317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1" i="0">
                <a:solidFill>
                  <a:srgbClr val="2D2D2D"/>
                </a:solidFill>
                <a:latin typeface="Microsoft YaHei"/>
              </a:defRPr>
            </a:pPr>
            <a:r>
              <a:t>指令调度(列表调度)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50527" y="2788920"/>
            <a:ext cx="2331720" cy="1371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0527" y="292608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分析指令依赖关系</a:t>
            </a:r>
          </a:p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重排指令顺序</a:t>
            </a:r>
          </a:p>
          <a:p>
            <a:pPr algn="l">
              <a:lnSpc>
                <a:spcPts val="1600"/>
              </a:lnSpc>
              <a:defRPr sz="1100" b="0" i="0">
                <a:solidFill>
                  <a:srgbClr val="666666"/>
                </a:solidFill>
                <a:latin typeface="Microsoft YaHei"/>
              </a:defRPr>
            </a:pPr>
            <a:r>
              <a:t>提高流水线效率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50527" y="4892040"/>
            <a:ext cx="233172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0527" y="49377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900" b="1" i="0">
                <a:solidFill>
                  <a:srgbClr val="FFFFFF"/>
                </a:solidFill>
                <a:latin typeface="Microsoft YaHei"/>
              </a:defRPr>
            </a:pPr>
            <a:r>
              <a:t>编译优化 | 调度算法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0">
                <a:solidFill>
                  <a:srgbClr val="666666"/>
                </a:solidFill>
                <a:latin typeface="Microsoft YaHei"/>
              </a:defRPr>
            </a:pPr>
            <a:r>
              <a:t>高难度课题有 mentor 全程指导，不用担心做不出来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谁适合报名？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737360"/>
            <a:ext cx="9601200" cy="640080"/>
          </a:xfrm>
          <a:prstGeom prst="roundRect">
            <a:avLst/>
          </a:prstGeom>
          <a:solidFill>
            <a:srgbClr val="EEFF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88366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8288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2D2D2D"/>
                </a:solidFill>
                <a:latin typeface="Microsoft YaHei"/>
              </a:defRPr>
            </a:pPr>
            <a:r>
              <a:t>大二、大三、研一同学，或自学编程爱好者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14600"/>
            <a:ext cx="9601200" cy="640080"/>
          </a:xfrm>
          <a:prstGeom prst="roundRect">
            <a:avLst/>
          </a:prstGeom>
          <a:solidFill>
            <a:srgbClr val="EEFF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54480" y="266090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060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2D2D2D"/>
                </a:solidFill>
                <a:latin typeface="Microsoft YaHei"/>
              </a:defRPr>
            </a:pPr>
            <a:r>
              <a:t>学过一门编程语言（Python / C / C++ 都行）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291840"/>
            <a:ext cx="9601200" cy="640080"/>
          </a:xfrm>
          <a:prstGeom prst="roundRect">
            <a:avLst/>
          </a:prstGeom>
          <a:solidFill>
            <a:srgbClr val="EEFF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343814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3832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2D2D2D"/>
                </a:solidFill>
                <a:latin typeface="Microsoft YaHei"/>
              </a:defRPr>
            </a:pPr>
            <a:r>
              <a:t>对「计算机到底怎么跑程序」有好奇心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069080"/>
            <a:ext cx="9601200" cy="640080"/>
          </a:xfrm>
          <a:prstGeom prst="roundRect">
            <a:avLst/>
          </a:prstGeom>
          <a:solidFill>
            <a:srgbClr val="EEFF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54480" y="421538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1605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2D2D2D"/>
                </a:solidFill>
                <a:latin typeface="Microsoft YaHei"/>
              </a:defRPr>
            </a:pPr>
            <a:r>
              <a:t>不怕犯错，敢写代码（Bug 是学习的一部分！）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846320"/>
            <a:ext cx="9601200" cy="640080"/>
          </a:xfrm>
          <a:prstGeom prst="roundRect">
            <a:avLst/>
          </a:prstGeom>
          <a:solidFill>
            <a:srgbClr val="EEFF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54480" y="499262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9377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0">
                <a:solidFill>
                  <a:srgbClr val="2D2D2D"/>
                </a:solidFill>
                <a:latin typeface="Microsoft YaHei"/>
              </a:defRPr>
            </a:pPr>
            <a:r>
              <a:t>每周能拿出 8 - 10 小时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080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0" i="0">
                <a:solidFill>
                  <a:srgbClr val="666666"/>
                </a:solidFill>
                <a:latin typeface="Microsoft YaHei"/>
              </a:defRPr>
            </a:pPr>
            <a:r>
              <a:t>你可能还没学过编译原理、还没搞懂指令集、甚至对汇编有点畏惧 -- 都没关系。</a:t>
            </a:r>
          </a:p>
          <a:p>
            <a:pPr algn="l">
              <a:lnSpc>
                <a:spcPts val="1900"/>
              </a:lnSpc>
              <a:defRPr sz="1500" b="0" i="0">
                <a:solidFill>
                  <a:srgbClr val="666666"/>
                </a:solidFill>
                <a:latin typeface="Microsoft YaHei"/>
              </a:defRPr>
            </a:pPr>
            <a:r>
              <a:t>我们就是来带你一步步跨过这些坎的。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关键时间节点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从报名到结项，每一步都有清晰的时间线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9550" y="2907792"/>
            <a:ext cx="9372595" cy="36576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6670" y="2743200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54686" y="28712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70" y="2240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006D77"/>
                </a:solidFill>
                <a:latin typeface="Microsoft YaHei"/>
              </a:defRPr>
            </a:pPr>
            <a:r>
              <a:t>即日起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10" y="3246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开始报名</a:t>
            </a:r>
          </a:p>
        </p:txBody>
      </p:sp>
      <p:sp>
        <p:nvSpPr>
          <p:cNvPr id="10" name="Oval 9"/>
          <p:cNvSpPr/>
          <p:nvPr/>
        </p:nvSpPr>
        <p:spPr>
          <a:xfrm>
            <a:off x="3101189" y="2743200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29205" y="28712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3989" y="2240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006D77"/>
                </a:solidFill>
                <a:latin typeface="Microsoft YaHei"/>
              </a:defRPr>
            </a:pPr>
            <a:r>
              <a:t>6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6829" y="3246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线上宣讲</a:t>
            </a:r>
          </a:p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课题选择</a:t>
            </a:r>
          </a:p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报名截止</a:t>
            </a:r>
          </a:p>
        </p:txBody>
      </p:sp>
      <p:sp>
        <p:nvSpPr>
          <p:cNvPr id="14" name="Oval 13"/>
          <p:cNvSpPr/>
          <p:nvPr/>
        </p:nvSpPr>
        <p:spPr>
          <a:xfrm>
            <a:off x="4975708" y="2743200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03724" y="28712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8508" y="2240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006D77"/>
                </a:solidFill>
                <a:latin typeface="Microsoft YaHei"/>
              </a:defRPr>
            </a:pPr>
            <a:r>
              <a:t>7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1348" y="3246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项目正式开启</a:t>
            </a:r>
          </a:p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启动会</a:t>
            </a:r>
          </a:p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第一周任务</a:t>
            </a:r>
          </a:p>
        </p:txBody>
      </p:sp>
      <p:sp>
        <p:nvSpPr>
          <p:cNvPr id="18" name="Oval 17"/>
          <p:cNvSpPr/>
          <p:nvPr/>
        </p:nvSpPr>
        <p:spPr>
          <a:xfrm>
            <a:off x="6850227" y="2743200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78243" y="28712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3027" y="2240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006D77"/>
                </a:solidFill>
                <a:latin typeface="Microsoft YaHei"/>
              </a:defRPr>
            </a:pPr>
            <a:r>
              <a:t>8 /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867" y="3246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Phase 1 验收</a:t>
            </a:r>
          </a:p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第一个里程碑</a:t>
            </a:r>
          </a:p>
        </p:txBody>
      </p:sp>
      <p:sp>
        <p:nvSpPr>
          <p:cNvPr id="22" name="Oval 21"/>
          <p:cNvSpPr/>
          <p:nvPr/>
        </p:nvSpPr>
        <p:spPr>
          <a:xfrm>
            <a:off x="8724746" y="2743200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52762" y="28712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7546" y="2240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006D77"/>
                </a:solidFill>
                <a:latin typeface="Microsoft YaHei"/>
              </a:defRPr>
            </a:pPr>
            <a:r>
              <a:t>8 /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0386" y="3246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Phase 2 验收</a:t>
            </a:r>
          </a:p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第二个里程碑</a:t>
            </a:r>
          </a:p>
        </p:txBody>
      </p:sp>
      <p:sp>
        <p:nvSpPr>
          <p:cNvPr id="26" name="Oval 25"/>
          <p:cNvSpPr/>
          <p:nvPr/>
        </p:nvSpPr>
        <p:spPr>
          <a:xfrm>
            <a:off x="10599265" y="274320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27281" y="28712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2065" y="2240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5A623"/>
                </a:solidFill>
                <a:latin typeface="Microsoft YaHei"/>
              </a:defRPr>
            </a:pPr>
            <a:r>
              <a:t>9 / 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4905" y="3246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项目结项</a:t>
            </a:r>
          </a:p>
          <a:p>
            <a:pPr algn="ctr">
              <a:lnSpc>
                <a:spcPts val="1300"/>
              </a:lnSpc>
              <a:defRPr sz="1000" b="0" i="0">
                <a:solidFill>
                  <a:srgbClr val="2D2D2D"/>
                </a:solidFill>
                <a:latin typeface="Microsoft YaHei"/>
              </a:defRPr>
            </a:pPr>
            <a:r>
              <a:t>成果展示+总结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0" i="0">
                <a:solidFill>
                  <a:srgbClr val="666666"/>
                </a:solidFill>
                <a:latin typeface="Microsoft YaHei"/>
              </a:defRPr>
            </a:pPr>
            <a:r>
              <a:t>每个里程碑都有进度检查和 mentor 指导，确保你不会掉队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开发流程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从选择课题到项目结项，完整的参与流程与支持体系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94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636776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2763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选择课题、立项</a:t>
            </a:r>
          </a:p>
        </p:txBody>
      </p:sp>
      <p:sp>
        <p:nvSpPr>
          <p:cNvPr id="8" name="Down Arrow 7"/>
          <p:cNvSpPr/>
          <p:nvPr/>
        </p:nvSpPr>
        <p:spPr>
          <a:xfrm>
            <a:off x="3447288" y="2084832"/>
            <a:ext cx="146304" cy="45720"/>
          </a:xfrm>
          <a:prstGeom prst="downArrow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139696"/>
            <a:ext cx="5394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221992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1284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完成设计文档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447288" y="2670048"/>
            <a:ext cx="146304" cy="45720"/>
          </a:xfrm>
          <a:prstGeom prst="downArrow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724912"/>
            <a:ext cx="5394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" y="2807208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9806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编写程序与对应单元测试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447288" y="3255264"/>
            <a:ext cx="146304" cy="45720"/>
          </a:xfrm>
          <a:prstGeom prst="downArrow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310128"/>
            <a:ext cx="5394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3392424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832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提交代码，运行并查看结果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447288" y="3840480"/>
            <a:ext cx="146304" cy="45720"/>
          </a:xfrm>
          <a:prstGeom prst="downArrow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895344"/>
            <a:ext cx="5394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" y="3977640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684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效果符合预期后提交 PR 并合入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447288" y="4425696"/>
            <a:ext cx="146304" cy="45720"/>
          </a:xfrm>
          <a:prstGeom prst="downArrow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480560"/>
            <a:ext cx="5394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" y="4562856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55371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完善开发文档、实验报告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3447288" y="5010912"/>
            <a:ext cx="146304" cy="45720"/>
          </a:xfrm>
          <a:prstGeom prst="downArrow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5065776"/>
            <a:ext cx="539496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148072"/>
            <a:ext cx="365760" cy="365760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13892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结项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1554480"/>
            <a:ext cx="4846320" cy="1417320"/>
          </a:xfrm>
          <a:prstGeom prst="roundRect">
            <a:avLst/>
          </a:prstGeom>
          <a:solidFill>
            <a:srgbClr val="E8F4FA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1554480"/>
            <a:ext cx="48463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0" y="1783080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1737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2E86AB"/>
                </a:solidFill>
                <a:latin typeface="Microsoft YaHei"/>
              </a:defRPr>
            </a:pPr>
            <a:r>
              <a:t>定期答疑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20116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每周固定时间段内答疑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230428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遇到问题随时获得帮助，</a:t>
            </a:r>
          </a:p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不会卡住超过一周。</a:t>
            </a:r>
          </a:p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mentor 主动跟进你的进度。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3136392"/>
            <a:ext cx="4846320" cy="1417320"/>
          </a:xfrm>
          <a:prstGeom prst="roundRect">
            <a:avLst/>
          </a:prstGeom>
          <a:solidFill>
            <a:srgbClr val="E8F4FA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3136392"/>
            <a:ext cx="48463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0" y="3364992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3192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2E86AB"/>
                </a:solidFill>
                <a:latin typeface="Microsoft YaHei"/>
              </a:defRPr>
            </a:pPr>
            <a:r>
              <a:t>进度同步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359359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文档形式同步进度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38862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每周汇报进展，</a:t>
            </a:r>
          </a:p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mentor 及时掌握你的状态，</a:t>
            </a:r>
          </a:p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确保方向正确。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0" y="4718304"/>
            <a:ext cx="4846320" cy="1417320"/>
          </a:xfrm>
          <a:prstGeom prst="roundRect">
            <a:avLst/>
          </a:prstGeom>
          <a:solidFill>
            <a:srgbClr val="E8F4FA"/>
          </a:solidFill>
          <a:ln w="1524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75120" y="4718304"/>
            <a:ext cx="484632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0" y="4946904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490118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2E86AB"/>
                </a:solidFill>
                <a:latin typeface="Microsoft YaHei"/>
              </a:defRPr>
            </a:pPr>
            <a:r>
              <a:t>小组协作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517550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0" i="0">
                <a:solidFill>
                  <a:srgbClr val="2D2D2D"/>
                </a:solidFill>
                <a:latin typeface="Microsoft YaHei"/>
              </a:defRPr>
            </a:pPr>
            <a:r>
              <a:t>多个课题组成小组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546811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方便随时交流问题，</a:t>
            </a:r>
          </a:p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互相 review 代码，</a:t>
            </a:r>
          </a:p>
          <a:p>
            <a:pPr algn="l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互相打气，共同成长。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上手准备</a:t>
            </a:r>
          </a:p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项目开始前，你需要了解的工具与流程 -- 一个下午就能搞定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906627" y="1600200"/>
            <a:ext cx="324612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8067" y="162763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GitHub 工作流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0927" y="2103120"/>
            <a:ext cx="3017520" cy="438912"/>
          </a:xfrm>
          <a:prstGeom prst="roundRect">
            <a:avLst/>
          </a:prstGeom>
          <a:solidFill>
            <a:srgbClr val="E8F4FA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4079" y="2167128"/>
            <a:ext cx="274320" cy="2743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9839" y="213055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E86AB"/>
                </a:solidFill>
                <a:latin typeface="Microsoft YaHei"/>
              </a:defRPr>
            </a:pPr>
            <a:r>
              <a:t>Fork 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9839" y="2331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复制项目到你的账号下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483967" y="2542032"/>
            <a:ext cx="91440" cy="73152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0927" y="2670048"/>
            <a:ext cx="3017520" cy="438912"/>
          </a:xfrm>
          <a:prstGeom prst="roundRect">
            <a:avLst/>
          </a:prstGeom>
          <a:solidFill>
            <a:srgbClr val="E8F4FA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4079" y="2734056"/>
            <a:ext cx="274320" cy="2743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9839" y="269748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E86AB"/>
                </a:solidFill>
                <a:latin typeface="Microsoft YaHei"/>
              </a:defRPr>
            </a:pPr>
            <a:r>
              <a:t>Clone 到本地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9839" y="289864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git clone 拉取代码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483967" y="3108960"/>
            <a:ext cx="91440" cy="73152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0927" y="3236976"/>
            <a:ext cx="3017520" cy="438912"/>
          </a:xfrm>
          <a:prstGeom prst="roundRect">
            <a:avLst/>
          </a:prstGeom>
          <a:solidFill>
            <a:srgbClr val="E8F4FA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4079" y="3300984"/>
            <a:ext cx="274320" cy="2743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9839" y="326440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E86AB"/>
                </a:solidFill>
                <a:latin typeface="Microsoft YaHei"/>
              </a:defRPr>
            </a:pPr>
            <a:r>
              <a:t>创建分支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9839" y="346557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在开发分支上工作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483967" y="3675888"/>
            <a:ext cx="91440" cy="73152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0927" y="3803904"/>
            <a:ext cx="3017520" cy="438912"/>
          </a:xfrm>
          <a:prstGeom prst="roundRect">
            <a:avLst/>
          </a:prstGeom>
          <a:solidFill>
            <a:srgbClr val="E8F4FA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4079" y="3867912"/>
            <a:ext cx="274320" cy="2743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9839" y="383133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E86AB"/>
                </a:solidFill>
                <a:latin typeface="Microsoft YaHei"/>
              </a:defRPr>
            </a:pPr>
            <a:r>
              <a:t>编写代码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9839" y="403250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实现你的编译器功能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483967" y="4242816"/>
            <a:ext cx="91440" cy="73152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0927" y="4370832"/>
            <a:ext cx="3017520" cy="438912"/>
          </a:xfrm>
          <a:prstGeom prst="roundRect">
            <a:avLst/>
          </a:prstGeom>
          <a:solidFill>
            <a:srgbClr val="E8F4FA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4079" y="4434840"/>
            <a:ext cx="274320" cy="2743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9839" y="439826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E86AB"/>
                </a:solidFill>
                <a:latin typeface="Microsoft YaHei"/>
              </a:defRPr>
            </a:pPr>
            <a:r>
              <a:t>提交 PR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9839" y="459943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发起 Pull Request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2483967" y="4809744"/>
            <a:ext cx="91440" cy="73152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20927" y="4937760"/>
            <a:ext cx="3017520" cy="438912"/>
          </a:xfrm>
          <a:prstGeom prst="roundRect">
            <a:avLst/>
          </a:prstGeom>
          <a:solidFill>
            <a:srgbClr val="E8F4FA"/>
          </a:solidFill>
          <a:ln w="1016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4079" y="5001768"/>
            <a:ext cx="274320" cy="2743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9839" y="496519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E86AB"/>
                </a:solidFill>
                <a:latin typeface="Microsoft YaHei"/>
              </a:defRPr>
            </a:pPr>
            <a:r>
              <a:t>Review 合入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59839" y="51663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Code Review 后合并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787" y="555040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0">
                <a:solidFill>
                  <a:srgbClr val="666666"/>
                </a:solidFill>
                <a:latin typeface="Microsoft YaHei"/>
              </a:defRPr>
            </a:pPr>
            <a:r>
              <a:t>查阅「上手文档」了解详细步骤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72787" y="1600200"/>
            <a:ext cx="324612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64227" y="162763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AI 辅助开发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87087" y="2103120"/>
            <a:ext cx="3017520" cy="123444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87087" y="2103120"/>
            <a:ext cx="30175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96815" y="224028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62575" y="221284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F5A623"/>
                </a:solidFill>
                <a:latin typeface="Microsoft YaHei"/>
              </a:defRPr>
            </a:pPr>
            <a:r>
              <a:t>AI 编程助手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62575" y="2432304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1" i="0">
                <a:solidFill>
                  <a:srgbClr val="2D2D2D"/>
                </a:solidFill>
                <a:latin typeface="Microsoft YaHei"/>
              </a:defRPr>
            </a:pPr>
            <a:r>
              <a:t>豆包 &amp; DeepSeek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62575" y="265176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在线 AI 编程助手帮你快速</a:t>
            </a:r>
          </a:p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验证想法，加速原型开发。</a:t>
            </a:r>
          </a:p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不懂的代码？问 AI 解释。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87087" y="3429000"/>
            <a:ext cx="3017520" cy="123444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87087" y="3429000"/>
            <a:ext cx="30175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96815" y="356616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62575" y="353872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F5A623"/>
                </a:solidFill>
                <a:latin typeface="Microsoft YaHei"/>
              </a:defRPr>
            </a:pPr>
            <a:r>
              <a:t>Agent 模式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62575" y="3758184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1" i="0">
                <a:solidFill>
                  <a:srgbClr val="2D2D2D"/>
                </a:solidFill>
                <a:latin typeface="Microsoft YaHei"/>
              </a:defRPr>
            </a:pPr>
            <a:r>
              <a:t>Claude Agent 体验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62575" y="39776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对话即编程的全新体验。</a:t>
            </a:r>
          </a:p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描述你想要的功能，</a:t>
            </a:r>
          </a:p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AI 帮你生成、测试、迭代。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87087" y="4754880"/>
            <a:ext cx="3017520" cy="123444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87087" y="4754880"/>
            <a:ext cx="30175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96815" y="489204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62575" y="486460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F5A623"/>
                </a:solidFill>
                <a:latin typeface="Microsoft YaHei"/>
              </a:defRPr>
            </a:pPr>
            <a:r>
              <a:t>加速学习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62575" y="5084064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000" b="1" i="0">
                <a:solidFill>
                  <a:srgbClr val="2D2D2D"/>
                </a:solidFill>
                <a:latin typeface="Microsoft YaHei"/>
              </a:defRPr>
            </a:pPr>
            <a:r>
              <a:t>AI 驱动的代码理解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62575" y="530352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用 AI 解释陌生代码逻辑，</a:t>
            </a:r>
          </a:p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阅读源码不再是障碍。</a:t>
            </a:r>
          </a:p>
          <a:p>
            <a:pPr algn="l">
              <a:lnSpc>
                <a:spcPts val="1200"/>
              </a:lnSpc>
              <a:defRPr sz="900" b="0" i="0">
                <a:solidFill>
                  <a:srgbClr val="666666"/>
                </a:solidFill>
                <a:latin typeface="Microsoft YaHei"/>
              </a:defRPr>
            </a:pPr>
            <a:r>
              <a:t>学习效率翻倍，门槛降到最低。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09947" y="612648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1">
                <a:solidFill>
                  <a:srgbClr val="666666"/>
                </a:solidFill>
                <a:latin typeface="Microsoft YaHei"/>
              </a:defRPr>
            </a:pPr>
            <a:r>
              <a:t>AI 是你最好的结对编程伙伴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38947" y="1600200"/>
            <a:ext cx="32461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0387" y="1627632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400" b="1" i="0">
                <a:solidFill>
                  <a:srgbClr val="FFFFFF"/>
                </a:solidFill>
                <a:latin typeface="Microsoft YaHei"/>
              </a:defRPr>
            </a:pPr>
            <a:r>
              <a:t>CI &amp; Benchmark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53247" y="2103120"/>
            <a:ext cx="3017520" cy="566928"/>
          </a:xfrm>
          <a:prstGeom prst="roundRect">
            <a:avLst/>
          </a:prstGeom>
          <a:solidFill>
            <a:srgbClr val="EEFFF5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26399" y="2212848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10447" y="21396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7AE60"/>
                </a:solidFill>
                <a:latin typeface="Microsoft YaHei"/>
              </a:defRPr>
            </a:pPr>
            <a:r>
              <a:t>提交代码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10447" y="23591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git push 触发</a:t>
            </a:r>
          </a:p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CI 流水线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9616287" y="2670048"/>
            <a:ext cx="91440" cy="45720"/>
          </a:xfrm>
          <a:prstGeom prst="down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153247" y="2743200"/>
            <a:ext cx="3017520" cy="566928"/>
          </a:xfrm>
          <a:prstGeom prst="roundRect">
            <a:avLst/>
          </a:prstGeom>
          <a:solidFill>
            <a:srgbClr val="EEFFF5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226399" y="2852928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0447" y="277977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7AE60"/>
                </a:solidFill>
                <a:latin typeface="Microsoft YaHei"/>
              </a:defRPr>
            </a:pPr>
            <a:r>
              <a:t>自动测试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10447" y="29992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单元测试 +</a:t>
            </a:r>
          </a:p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集成测试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9616287" y="3310128"/>
            <a:ext cx="91440" cy="45720"/>
          </a:xfrm>
          <a:prstGeom prst="down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153247" y="3383280"/>
            <a:ext cx="3017520" cy="566928"/>
          </a:xfrm>
          <a:prstGeom prst="roundRect">
            <a:avLst/>
          </a:prstGeom>
          <a:solidFill>
            <a:srgbClr val="EEFFF5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226399" y="3493008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10447" y="341985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7AE60"/>
                </a:solidFill>
                <a:latin typeface="Microsoft YaHei"/>
              </a:defRPr>
            </a:pPr>
            <a:r>
              <a:t>查看结果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0447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GitHub Actions</a:t>
            </a:r>
          </a:p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实时反馈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9616287" y="3950208"/>
            <a:ext cx="91440" cy="45720"/>
          </a:xfrm>
          <a:prstGeom prst="down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153247" y="4023360"/>
            <a:ext cx="3017520" cy="566928"/>
          </a:xfrm>
          <a:prstGeom prst="roundRect">
            <a:avLst/>
          </a:prstGeom>
          <a:solidFill>
            <a:srgbClr val="EEFFF5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226399" y="4133088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10447" y="405993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7AE60"/>
                </a:solidFill>
                <a:latin typeface="Microsoft YaHei"/>
              </a:defRPr>
            </a:pPr>
            <a:r>
              <a:t>添加 Case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10447" y="42793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为你的功能</a:t>
            </a:r>
          </a:p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添加 CI 用例</a:t>
            </a:r>
          </a:p>
        </p:txBody>
      </p:sp>
      <p:sp>
        <p:nvSpPr>
          <p:cNvPr id="79" name="Down Arrow 78"/>
          <p:cNvSpPr/>
          <p:nvPr/>
        </p:nvSpPr>
        <p:spPr>
          <a:xfrm>
            <a:off x="9616287" y="4590288"/>
            <a:ext cx="91440" cy="45720"/>
          </a:xfrm>
          <a:prstGeom prst="down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153247" y="4663440"/>
            <a:ext cx="3017520" cy="566928"/>
          </a:xfrm>
          <a:prstGeom prst="roundRect">
            <a:avLst/>
          </a:prstGeom>
          <a:solidFill>
            <a:srgbClr val="EEFFF5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226399" y="4773168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10447" y="470001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200" b="1" i="0">
                <a:solidFill>
                  <a:srgbClr val="27AE60"/>
                </a:solidFill>
                <a:latin typeface="Microsoft YaHei"/>
              </a:defRPr>
            </a:pPr>
            <a:r>
              <a:t>Benchmark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10447" y="4919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LLVM vs ScratchV</a:t>
            </a:r>
          </a:p>
          <a:p>
            <a:pPr algn="l">
              <a:lnSpc>
                <a:spcPts val="900"/>
              </a:lnSpc>
              <a:defRPr sz="800" b="0" i="0">
                <a:solidFill>
                  <a:srgbClr val="666666"/>
                </a:solidFill>
                <a:latin typeface="Microsoft YaHei"/>
              </a:defRPr>
            </a:pPr>
            <a:r>
              <a:t>性能对比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76107" y="534924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000" b="0" i="1">
                <a:solidFill>
                  <a:srgbClr val="666666"/>
                </a:solidFill>
                <a:latin typeface="Microsoft YaHei"/>
              </a:defRPr>
            </a:pPr>
            <a:r>
              <a:t>每次提交自动运行，质量有保障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 i="0">
                <a:solidFill>
                  <a:srgbClr val="006D77"/>
                </a:solidFill>
                <a:latin typeface="Microsoft YaHei"/>
              </a:defRPr>
            </a:pPr>
            <a:r>
              <a:t>学习路径：Fork 代码 -&gt; AI 辅助开发 -&gt; 提交 PR -&gt; CI 自动验证 -&gt; Benchmark 对比 -&gt; 成就感满满！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常见疑问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38404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7335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FFFFFF"/>
                </a:solidFill>
                <a:latin typeface="Microsoft YaHei"/>
              </a:defRPr>
            </a:pPr>
            <a:r>
              <a:t>Q: 没听过 ONNX，能行吗？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39696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A: 当然可以。第 1 周就会带你跑通例子，ONNX 只是一个文件格式，把它当成「模型存盘」就好。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16936"/>
            <a:ext cx="10515600" cy="38404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FFFFFF"/>
                </a:solidFill>
                <a:latin typeface="Microsoft YaHei"/>
              </a:defRPr>
            </a:pPr>
            <a:r>
              <a:t>Q: 没学过编译原理，会不会听不懂？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10712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A: 我们会用直观的比喻（编译器就像「翻译官」），避开理论轰炸，先动手再做总结。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87952"/>
            <a:ext cx="10515600" cy="38404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15384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FFFFFF"/>
                </a:solidFill>
                <a:latin typeface="Microsoft YaHei"/>
              </a:defRPr>
            </a:pPr>
            <a:r>
              <a:t>Q: 需要买 RISC-V 开发板吗？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81728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A: 不需要。全程用软件模拟器（tinyfive），在笔记本电脑上就能跑。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58968"/>
            <a:ext cx="10515600" cy="38404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FFFFFF"/>
                </a:solidFill>
                <a:latin typeface="Microsoft YaHei"/>
              </a:defRPr>
            </a:pPr>
            <a:r>
              <a:t>Q: 中途跟不上怎么办？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952744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A: 每个阶段有进度检查，mentor 会主动帮忙。有缓冲时间，可选只完成核心路径。完成比完美重要。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5935" cy="54864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Microsoft YaHei"/>
              </a:defRPr>
            </a:pPr>
            <a:r>
              <a:t>常见疑问（续）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38404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7335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FFFFFF"/>
                </a:solidFill>
                <a:latin typeface="Microsoft YaHei"/>
              </a:defRPr>
            </a:pPr>
            <a:r>
              <a:t>Q: 结项后还想继续参与项目开发可以吗？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39696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A: ScratchV 开源社区会持续活跃，欢迎大家踊跃提交 PR！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25496"/>
            <a:ext cx="10515600" cy="38404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5292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FFFFFF"/>
                </a:solidFill>
                <a:latin typeface="Microsoft YaHei"/>
              </a:defRPr>
            </a:pPr>
            <a:r>
              <a:t>Q: 精选课题对我来说太难，或者我有其他自己想做的课题可以选吗？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19272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A: 精选课题只是提供一个 list 供大家选择，大家可以自由提出新的想法，与 mentor 讨论后立项并进行开发。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05072"/>
            <a:ext cx="10515600" cy="38404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32504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FFFFFF"/>
                </a:solidFill>
                <a:latin typeface="Microsoft YaHei"/>
              </a:defRPr>
            </a:pPr>
            <a:r>
              <a:t>Q: 我想做的课题有其他同学选择了，我还可以做吗？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9884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A: 我们鼓励合作完成课题，可以以小组为单位提交 PR，但是不能两个不同小组实现同一个课题。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84648"/>
            <a:ext cx="10515600" cy="384048"/>
          </a:xfrm>
          <a:prstGeom prst="round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500" b="1" i="0">
                <a:solidFill>
                  <a:srgbClr val="FFFFFF"/>
                </a:solidFill>
                <a:latin typeface="Microsoft YaHei"/>
              </a:defRPr>
            </a:pPr>
            <a:r>
              <a:t>Q: 我想多锻炼自己！能不能多认领几个课题做？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678424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300" b="0" i="0">
                <a:solidFill>
                  <a:srgbClr val="2D2D2D"/>
                </a:solidFill>
                <a:latin typeface="Microsoft YaHei"/>
              </a:defRPr>
            </a:pPr>
            <a:r>
              <a:t>A: 每人在每个时刻只能认领最多一个课题，如果完成周期较短，可以在课题完成后立刻开始下一个课题。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4572000"/>
            <a:ext cx="1645920" cy="164592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3657600"/>
            <a:ext cx="1645920" cy="164592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914400"/>
            <a:ext cx="1645920" cy="164592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457200"/>
            <a:ext cx="109728" cy="109728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5943600"/>
            <a:ext cx="109728" cy="109728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5486400"/>
            <a:ext cx="109728" cy="109728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defRPr sz="3400" b="1" i="0">
                <a:solidFill>
                  <a:srgbClr val="FFFFFF"/>
                </a:solidFill>
                <a:latin typeface="Microsoft YaHei"/>
              </a:defRPr>
            </a:pPr>
            <a:r>
              <a:t>从今天起，给自己一个</a:t>
            </a:r>
          </a:p>
          <a:p>
            <a:pPr algn="l">
              <a:lnSpc>
                <a:spcPts val="4500"/>
              </a:lnSpc>
              <a:defRPr sz="3400" b="1" i="0">
                <a:solidFill>
                  <a:srgbClr val="FFFFFF"/>
                </a:solidFill>
                <a:latin typeface="Microsoft YaHei"/>
              </a:defRPr>
            </a:pPr>
            <a:r>
              <a:t>「创造编译器」的机会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600" b="0" i="0">
                <a:solidFill>
                  <a:srgbClr val="E0E0E0"/>
                </a:solidFill>
                <a:latin typeface="Microsoft YaHei"/>
              </a:defRPr>
            </a:pPr>
            <a:r>
              <a:t>也许你现在觉得编译器遥不可及，</a:t>
            </a:r>
          </a:p>
          <a:p>
            <a:pPr algn="l">
              <a:lnSpc>
                <a:spcPts val="2300"/>
              </a:lnSpc>
              <a:defRPr sz="1600" b="0" i="0">
                <a:solidFill>
                  <a:srgbClr val="E0E0E0"/>
                </a:solidFill>
                <a:latin typeface="Microsoft YaHei"/>
              </a:defRPr>
            </a:pPr>
            <a:r>
              <a:t>但三个月后，你会看着自己写的代码，把一行行模型规则变成芯片指令。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0" i="1">
                <a:solidFill>
                  <a:srgbClr val="F5A623"/>
                </a:solidFill>
                <a:latin typeface="Microsoft YaHei"/>
              </a:defRPr>
            </a:pPr>
            <a:r>
              <a:t>「我居然做到了」-- 这会是大学期间最难忘的回忆之一。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 i="0">
                <a:solidFill>
                  <a:srgbClr val="FFFFFF"/>
                </a:solidFill>
                <a:latin typeface="Microsoft YaHei"/>
              </a:defRPr>
            </a:pPr>
            <a:r>
              <a:t>不要让「基础不够」成为不敢开始的理由。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立即报名: </a:t>
            </a:r>
            <a:r>
              <a:rPr sz="1800" u="sng" b="1">
                <a:solidFill>
                  <a:srgbClr val="006D77"/>
                </a:solidFill>
                <a:latin typeface="Microsoft YaHei"/>
                <a:hlinkClick r:id="rId2"/>
              </a:rPr>
              <a:t>https://your-form-link.com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0" i="0">
                <a:solidFill>
                  <a:srgbClr val="E0E0E0"/>
                </a:solidFill>
                <a:latin typeface="Microsoft YaHei"/>
              </a:defRPr>
            </a:pPr>
            <a:r>
              <a:t>咨询（QQ 群）：1106852304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715000"/>
            <a:ext cx="9144000" cy="182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F5A623"/>
                </a:solidFill>
                <a:latin typeface="Microsoft YaHei"/>
              </a:defRPr>
            </a:pPr>
            <a:r>
              <a:t>欢迎转发给同样好奇的小伙伴！</a:t>
            </a:r>
          </a:p>
          <a:p>
            <a:pPr algn="l">
              <a:lnSpc>
                <a:spcPts val="1900"/>
              </a:lnSpc>
              <a:defRPr sz="1400" b="0" i="0">
                <a:solidFill>
                  <a:srgbClr val="F5A623"/>
                </a:solidFill>
                <a:latin typeface="Microsoft YaHei"/>
              </a:defRPr>
            </a:pPr>
            <a:r>
              <a:t>你不需要很厉害才能开始，但你需要开始才能很厉害。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4572000"/>
            <a:ext cx="1645920" cy="164592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3657600"/>
            <a:ext cx="1645920" cy="164592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914400"/>
            <a:ext cx="1645920" cy="1645920"/>
          </a:xfrm>
          <a:prstGeom prst="ellipse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274320"/>
            <a:ext cx="109728" cy="109728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943600"/>
            <a:ext cx="109728" cy="109728"/>
          </a:xfrm>
          <a:prstGeom prst="ellipse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defRPr sz="5600" b="1" i="0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468880"/>
            <a:ext cx="2103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2200" b="0" i="0">
                <a:solidFill>
                  <a:srgbClr val="006D77"/>
                </a:solidFill>
                <a:latin typeface="Microsoft YaHei"/>
              </a:defRPr>
            </a:pPr>
            <a:r>
              <a:t>期待与你一起，开启编译器的奇妙旅程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defRPr sz="1800" b="0" i="0">
                <a:solidFill>
                  <a:srgbClr val="E0E0E0"/>
                </a:solidFill>
                <a:latin typeface="Microsoft YaHei"/>
              </a:defRPr>
            </a:pPr>
            <a:r>
              <a:t>Questions &amp;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4663440"/>
            <a:ext cx="3017520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666666"/>
                </a:solidFill>
                <a:latin typeface="Microsoft YaHei"/>
              </a:defRPr>
            </a:pPr>
            <a:r>
              <a:t>github.com/scratchv/scratchv   |   #ScratchV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300" b="0" i="0">
                <a:solidFill>
                  <a:srgbClr val="E0E0E0"/>
                </a:solidFill>
                <a:latin typeface="Microsoft YaHei"/>
              </a:defRPr>
            </a:pPr>
            <a:r>
              <a:t>QQ 群：1106852304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